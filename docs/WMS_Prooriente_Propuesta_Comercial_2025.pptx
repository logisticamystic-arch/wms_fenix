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Acumulado (Millones COP)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Pérdidas Acum.</c:v>
                </c:pt>
              </c:strCache>
            </c:strRef>
          </c:tx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Mes 1</c:v>
                </c:pt>
                <c:pt idx="1">
                  <c:v>Mes 2</c:v>
                </c:pt>
                <c:pt idx="2">
                  <c:v>Mes 3</c:v>
                </c:pt>
                <c:pt idx="3">
                  <c:v>Mes 4</c:v>
                </c:pt>
                <c:pt idx="4">
                  <c:v>Mes 5</c:v>
                </c:pt>
                <c:pt idx="5">
                  <c:v>Mes 6</c:v>
                </c:pt>
                <c:pt idx="6">
                  <c:v>Mes 12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11.5</c:v>
                </c:pt>
                <c:pt idx="1">
                  <c:v>23</c:v>
                </c:pt>
                <c:pt idx="2">
                  <c:v>34.5</c:v>
                </c:pt>
                <c:pt idx="3">
                  <c:v>46</c:v>
                </c:pt>
                <c:pt idx="4">
                  <c:v>57.5</c:v>
                </c:pt>
                <c:pt idx="5">
                  <c:v>69</c:v>
                </c:pt>
                <c:pt idx="6">
                  <c:v>138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Beneficio Acum.</c:v>
                </c:pt>
              </c:strCache>
            </c:strRef>
          </c:tx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Mes 1</c:v>
                </c:pt>
                <c:pt idx="1">
                  <c:v>Mes 2</c:v>
                </c:pt>
                <c:pt idx="2">
                  <c:v>Mes 3</c:v>
                </c:pt>
                <c:pt idx="3">
                  <c:v>Mes 4</c:v>
                </c:pt>
                <c:pt idx="4">
                  <c:v>Mes 5</c:v>
                </c:pt>
                <c:pt idx="5">
                  <c:v>Mes 6</c:v>
                </c:pt>
                <c:pt idx="6">
                  <c:v>Mes 12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7.3</c:v>
                </c:pt>
                <c:pt idx="1">
                  <c:v>14.6</c:v>
                </c:pt>
                <c:pt idx="2">
                  <c:v>21.9</c:v>
                </c:pt>
                <c:pt idx="3">
                  <c:v>29.2</c:v>
                </c:pt>
                <c:pt idx="4">
                  <c:v>36.5</c:v>
                </c:pt>
                <c:pt idx="5">
                  <c:v>43.8</c:v>
                </c:pt>
                <c:pt idx="6">
                  <c:v>87.6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4389120"/>
            <a:ext cx="3227832" cy="2468880"/>
          </a:xfrm>
          <a:prstGeom prst="rect">
            <a:avLst/>
          </a:prstGeom>
          <a:solidFill>
            <a:srgbClr val="0D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4370832"/>
            <a:ext cx="322783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005840"/>
            <a:ext cx="292608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00584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PROPUESTA COMERCIAL  • 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72768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0" b="1" i="0">
                <a:solidFill>
                  <a:srgbClr val="00D4AA"/>
                </a:solidFill>
                <a:latin typeface="Georgia"/>
              </a:rPr>
              <a:t>WMS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Georgia"/>
              </a:rPr>
              <a:t>PROORIENTE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858768"/>
            <a:ext cx="41148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41648"/>
            <a:ext cx="7315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E2E8F0"/>
                </a:solidFill>
                <a:latin typeface="Calibri"/>
              </a:rPr>
              <a:t>La Plataforma Logística Inteligente de Nueva Generación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892040"/>
            <a:ext cx="2057400" cy="329184"/>
          </a:xfrm>
          <a:prstGeom prst="rect">
            <a:avLst/>
          </a:prstGeom>
          <a:solidFill>
            <a:srgbClr val="243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892040"/>
            <a:ext cx="64008" cy="32918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91032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4AA"/>
                </a:solidFill>
                <a:latin typeface="Calibri"/>
              </a:rPr>
              <a:t>INTELIGENCIA ARTIFICIAL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35808" y="4892040"/>
            <a:ext cx="2057400" cy="329184"/>
          </a:xfrm>
          <a:prstGeom prst="rect">
            <a:avLst/>
          </a:prstGeom>
          <a:solidFill>
            <a:srgbClr val="243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35808" y="4892040"/>
            <a:ext cx="64008" cy="32918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45536" y="491032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4AA"/>
                </a:solidFill>
                <a:latin typeface="Calibri"/>
              </a:rPr>
              <a:t>FEFO • ML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48656" y="4892040"/>
            <a:ext cx="2057400" cy="329184"/>
          </a:xfrm>
          <a:prstGeom prst="rect">
            <a:avLst/>
          </a:prstGeom>
          <a:solidFill>
            <a:srgbClr val="243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48656" y="4892040"/>
            <a:ext cx="64008" cy="32918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58384" y="491032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4AA"/>
                </a:solidFill>
                <a:latin typeface="Calibri"/>
              </a:rPr>
              <a:t>TMS 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61504" y="4892040"/>
            <a:ext cx="2057400" cy="329184"/>
          </a:xfrm>
          <a:prstGeom prst="rect">
            <a:avLst/>
          </a:prstGeom>
          <a:solidFill>
            <a:srgbClr val="243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61504" y="4892040"/>
            <a:ext cx="64008" cy="32918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71231" y="491032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4AA"/>
                </a:solidFill>
                <a:latin typeface="Calibri"/>
              </a:rPr>
              <a:t>BI READY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74352" y="4892040"/>
            <a:ext cx="2057400" cy="329184"/>
          </a:xfrm>
          <a:prstGeom prst="rect">
            <a:avLst/>
          </a:prstGeom>
          <a:solidFill>
            <a:srgbClr val="243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74352" y="4892040"/>
            <a:ext cx="64008" cy="32918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491032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4AA"/>
                </a:solidFill>
                <a:latin typeface="Calibri"/>
              </a:rPr>
              <a:t>AGENTE FÉNIX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0" y="64465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www.prooriente.com  |  Confidencial  |  Todos los derechos reservados © 2025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0"/>
            <a:ext cx="3227832" cy="4389120"/>
          </a:xfrm>
          <a:prstGeom prst="rect">
            <a:avLst/>
          </a:prstGeom>
          <a:solidFill>
            <a:srgbClr val="0F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411480" cy="6784848"/>
          </a:xfrm>
          <a:prstGeom prst="rect">
            <a:avLst/>
          </a:prstGeom>
          <a:solidFill>
            <a:srgbClr val="1B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EL RETO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B5E"/>
                </a:solidFill>
                <a:latin typeface="Georgia"/>
              </a:rPr>
              <a:t>El Costo de Operar sin un WMS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89888"/>
            <a:ext cx="457200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2697480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029968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F4444"/>
                </a:solidFill>
                <a:latin typeface="Georgia"/>
              </a:rPr>
              <a:t>12–15%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B5E"/>
                </a:solidFill>
                <a:latin typeface="Calibri"/>
              </a:rPr>
              <a:t>Tasa de error
en despachos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61188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sin trazabilidad automática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82880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1828800"/>
            <a:ext cx="269748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2029968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9E0B"/>
                </a:solidFill>
                <a:latin typeface="Georgia"/>
              </a:rPr>
              <a:t>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92608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B5E"/>
                </a:solidFill>
                <a:latin typeface="Calibri"/>
              </a:rPr>
              <a:t>Inventario
a vencer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361188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sin alertas predictivas activas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82880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1828800"/>
            <a:ext cx="269748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2029968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C3AED"/>
                </a:solidFill>
                <a:latin typeface="Georgia"/>
              </a:rPr>
              <a:t>8 h/día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92608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B5E"/>
                </a:solidFill>
                <a:latin typeface="Calibri"/>
              </a:rPr>
              <a:t>Perdidas en
reportes manuales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361188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datos dispersos, sin unificación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182880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1828800"/>
            <a:ext cx="269748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5167" y="2029968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D9488"/>
                </a:solidFill>
                <a:latin typeface="Georgia"/>
              </a:rPr>
              <a:t>$$$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92608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B5E"/>
                </a:solidFill>
                <a:latin typeface="Calibri"/>
              </a:rPr>
              <a:t>Pérdidas por
falta de FEFO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7" y="361188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productos vencen antes de usarse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715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1">
                <a:solidFill>
                  <a:srgbClr val="1B2B5E"/>
                </a:solidFill>
                <a:latin typeface="Calibri"/>
              </a:rPr>
              <a:t>Con WMS Prooriente eliminas estas pérdidas desde el primer mes de operación.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0" y="6675120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WMS PROORIENTE  •  Propuesta Comercial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Calibri"/>
              </a:rPr>
              <a:t>LA SOLUCIÓN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4864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WMS Prooriente — Hecho a su Medida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52728"/>
            <a:ext cx="4572000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Un sistema de gestión de bodegas (WMS) desarrollado 100% a la medida de</a:t>
            </a:r>
          </a:p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PROORIENTE, que digitaliza, automatiza y protege toda la operación logística: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86000"/>
            <a:ext cx="2743200" cy="1170432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286000"/>
            <a:ext cx="64008" cy="1170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Recepción &amp; YMS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6148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Control total de patio, citas y recibo de mercancía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2286000"/>
            <a:ext cx="2743200" cy="1170432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2286000"/>
            <a:ext cx="64008" cy="1170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2377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Almacenamiento FEFO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76148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Ubicación inteligente con rotación por vencimiento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584448"/>
            <a:ext cx="2743200" cy="1170432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584448"/>
            <a:ext cx="64008" cy="1170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675887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Picking Inteligente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059935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Planillas, rutas óptimas y confirmación en tiempo real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3584448"/>
            <a:ext cx="2743200" cy="1170432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584448"/>
            <a:ext cx="64008" cy="1170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3675887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Despacho &amp; TMS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059935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Certificación, cargue y API lista para conectar al TMS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882896"/>
            <a:ext cx="2743200" cy="1170432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882896"/>
            <a:ext cx="64008" cy="1170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97433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Inventario BI-Ready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358383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Ciclos, ajustes y conexión directa a Power BI / Tableau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4882896"/>
            <a:ext cx="2743200" cy="1170432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20440" y="4882896"/>
            <a:ext cx="64008" cy="1170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3320" y="497433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Inteligencia 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5358383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Predicción de vencimientos y detección de anomalías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1417320"/>
            <a:ext cx="5349240" cy="5029200"/>
          </a:xfrm>
          <a:prstGeom prst="rect">
            <a:avLst/>
          </a:prstGeom>
          <a:solidFill>
            <a:srgbClr val="0F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0" y="6656832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WMS PROORIENTE  •  Propuesta Comercial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411480" cy="6784848"/>
          </a:xfrm>
          <a:prstGeom prst="rect">
            <a:avLst/>
          </a:prstGeom>
          <a:solidFill>
            <a:srgbClr val="1B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MÓDULOS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2064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B5E"/>
                </a:solidFill>
                <a:latin typeface="Georgia"/>
              </a:rPr>
              <a:t>9 Módulos Completamente Integrados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502920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363931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64008" cy="15727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929384"/>
            <a:ext cx="475488" cy="4754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4168" y="152704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5E"/>
                </a:solidFill>
                <a:latin typeface="Calibri"/>
              </a:rPr>
              <a:t>Recepción &amp; YMS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19659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Patio, citas, ODC, control de llegadas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417320"/>
            <a:ext cx="363931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417320"/>
            <a:ext cx="64008" cy="15727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1929384"/>
            <a:ext cx="475488" cy="4754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84648" y="152704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5E"/>
                </a:solidFill>
                <a:latin typeface="Calibri"/>
              </a:rPr>
              <a:t>Almacenamiento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4648" y="19659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Ubicación FEFO, traslados, mapa 2D bodega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1417320"/>
            <a:ext cx="363931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1417320"/>
            <a:ext cx="64008" cy="15727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912" y="1929384"/>
            <a:ext cx="475488" cy="4754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025128" y="152704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5E"/>
                </a:solidFill>
                <a:latin typeface="Calibri"/>
              </a:rPr>
              <a:t>Picking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5128" y="19659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Planillas, rutas, confirmación en tiempo real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136391"/>
            <a:ext cx="363931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3136391"/>
            <a:ext cx="64008" cy="15727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648456"/>
            <a:ext cx="475488" cy="47548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44168" y="324612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5E"/>
                </a:solidFill>
                <a:latin typeface="Calibri"/>
              </a:rPr>
              <a:t>Despacho &amp; TMS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685031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Certificación, cargue, API TMS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40" y="3136391"/>
            <a:ext cx="363931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3136391"/>
            <a:ext cx="64008" cy="15727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432" y="3648456"/>
            <a:ext cx="475488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184648" y="324612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5E"/>
                </a:solidFill>
                <a:latin typeface="Calibri"/>
              </a:rPr>
              <a:t>Inventario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8" y="3685031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Ciclos, general, ajustes, cargue de saldo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20" y="3136391"/>
            <a:ext cx="363931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20" y="3136391"/>
            <a:ext cx="64008" cy="157276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9912" y="3648456"/>
            <a:ext cx="475488" cy="47548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025128" y="324612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5E"/>
                </a:solidFill>
                <a:latin typeface="Calibri"/>
              </a:rPr>
              <a:t>Reportes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8" y="3685031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Kardex, gerencial, KPIs, exportación Excel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4855464"/>
            <a:ext cx="363931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" y="4855464"/>
            <a:ext cx="64008" cy="157276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" y="5367527"/>
            <a:ext cx="475488" cy="47548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344168" y="496519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5E"/>
                </a:solidFill>
                <a:latin typeface="Calibri"/>
              </a:rPr>
              <a:t>Maestros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44168" y="5404103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Empresas, productos, clientes, usuarios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34840" y="4855464"/>
            <a:ext cx="363931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34840" y="4855464"/>
            <a:ext cx="64008" cy="15727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9432" y="5367527"/>
            <a:ext cx="475488" cy="47548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184648" y="496519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5E"/>
                </a:solidFill>
                <a:latin typeface="Calibri"/>
              </a:rPr>
              <a:t>Inteligencia ML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84648" y="5404103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FEFO predictivo, anomalías, vencimientos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75320" y="4855464"/>
            <a:ext cx="363931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75320" y="4855464"/>
            <a:ext cx="64008" cy="15727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9912" y="5367527"/>
            <a:ext cx="475488" cy="47548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025128" y="496519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5E"/>
                </a:solidFill>
                <a:latin typeface="Calibri"/>
              </a:rPr>
              <a:t>Agente Fénix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25128" y="5404103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Asistente IA para operaciones logísticas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0" y="6675120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WMS PROORIENTE  •  Propuesta Comercial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Calibri"/>
              </a:rPr>
              <a:t>INTELIGENCIA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2064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El WMS que Aprende y Previene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07008"/>
            <a:ext cx="5486400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54480"/>
            <a:ext cx="5376672" cy="2212848"/>
          </a:xfrm>
          <a:prstGeom prst="rect">
            <a:avLst/>
          </a:prstGeom>
          <a:solidFill>
            <a:srgbClr val="0D4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554480"/>
            <a:ext cx="5376672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83080"/>
            <a:ext cx="530352" cy="5303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35608" y="1719072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Predictor de
Vencimientos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49377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EMA + Regresión Lineal • 30 días histórico
Riesgo: Crítico / Alto / Medio / Bajo
Recomendaciones accionables automáticas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554480"/>
            <a:ext cx="5376672" cy="2212848"/>
          </a:xfrm>
          <a:prstGeom prst="rect">
            <a:avLst/>
          </a:prstGeom>
          <a:solidFill>
            <a:srgbClr val="5E3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554480"/>
            <a:ext cx="537667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783080"/>
            <a:ext cx="530352" cy="5303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04888" y="1719072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Detector de
Anomalías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14600"/>
            <a:ext cx="49377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Z-Score + IQR estadístico
Patrones inusuales por usuario/producto
Alertas en tiempo real a supervisores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977639"/>
            <a:ext cx="5376672" cy="2212848"/>
          </a:xfrm>
          <a:prstGeom prst="rect">
            <a:avLst/>
          </a:prstGeom>
          <a:solidFill>
            <a:srgbClr val="0D4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977639"/>
            <a:ext cx="5376672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06240"/>
            <a:ext cx="530352" cy="5303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35608" y="4142231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Motor FEFO
Inteligente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937759"/>
            <a:ext cx="49377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First Expiry First Out automático
Sugerencia de lotes por vencimiento
Bloqueo de operaciones fuera de orden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977639"/>
            <a:ext cx="5376672" cy="2212848"/>
          </a:xfrm>
          <a:prstGeom prst="rect">
            <a:avLst/>
          </a:prstGeom>
          <a:solidFill>
            <a:srgbClr val="5E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977639"/>
            <a:ext cx="5376672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206240"/>
            <a:ext cx="530352" cy="5303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04888" y="4142231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InventoryGuard™
8 Reglas Duras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937759"/>
            <a:ext cx="49377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Bloqueo de picking sin stock
Validación de traslados y recepciones
Log inmutable de cada intento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446520"/>
            <a:ext cx="10972800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45566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Scheduler nocturno automático — El ML corre solo cada noche sin intervención humana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0" y="6675120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WMS PROORIENTE  •  Propuesta Comercial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AGENTE FÉNIX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2064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Tu Asistente de IA en la Operación Logística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81328"/>
            <a:ext cx="5943600" cy="4114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Agente Fénix es el cerebro digital de la bodega. Trabaja 24/7,
aprende de la operación y genera alertas, recomendaciones y acciones
preventivas antes de que los problemas ocurran.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743200"/>
            <a:ext cx="5852160" cy="594360"/>
          </a:xfrm>
          <a:prstGeom prst="rect">
            <a:avLst/>
          </a:prstGeom>
          <a:solidFill>
            <a:srgbClr val="281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743200"/>
            <a:ext cx="64008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Alertas predictivas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3580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Notificaciones a supervisores por vencimientos críticos, anomalías y stock bajo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456432"/>
            <a:ext cx="5852160" cy="594360"/>
          </a:xfrm>
          <a:prstGeom prst="rect">
            <a:avLst/>
          </a:prstGeom>
          <a:solidFill>
            <a:srgbClr val="281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3456432"/>
            <a:ext cx="64008" cy="5943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93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Análisis de rotación FEFO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490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Detecta productos estancados y genera recomendaciones de promoción o traslado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169664"/>
            <a:ext cx="5852160" cy="594360"/>
          </a:xfrm>
          <a:prstGeom prst="rect">
            <a:avLst/>
          </a:prstGeom>
          <a:solidFill>
            <a:srgbClr val="281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169664"/>
            <a:ext cx="64008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Detección de fraudes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622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Z-score + IQR identifica ajustes sospechosos y los escala automáticamente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882896"/>
            <a:ext cx="5852160" cy="594360"/>
          </a:xfrm>
          <a:prstGeom prst="rect">
            <a:avLst/>
          </a:prstGeom>
          <a:solidFill>
            <a:srgbClr val="281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882896"/>
            <a:ext cx="64008" cy="594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9194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Dashboard inteligente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755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Score de salud del inventario en tiempo real con indicadores 0–100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596128"/>
            <a:ext cx="5852160" cy="594360"/>
          </a:xfrm>
          <a:prstGeom prst="rect">
            <a:avLst/>
          </a:prstGeom>
          <a:solidFill>
            <a:srgbClr val="281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5596128"/>
            <a:ext cx="64008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6327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Integración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8887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Se conecta con BI (Power BI, Tableau), TMS y sistemas ERP vía API REST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1298448"/>
            <a:ext cx="5212080" cy="51663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0" y="6675120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WMS PROORIENTE  •  Propuesta Comercial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411480" cy="67848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INTEGRACIÓN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2064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B5E"/>
                </a:solidFill>
                <a:latin typeface="Georgia"/>
              </a:rPr>
              <a:t>API TMS + Conectividad BI — Sistema Abierto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640080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41732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WMS PROORIENTE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325880"/>
            <a:ext cx="3749039" cy="685800"/>
          </a:xfrm>
          <a:prstGeom prst="rect">
            <a:avLst/>
          </a:prstGeom>
          <a:solidFill>
            <a:srgbClr val="1B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2468880"/>
            <a:ext cx="292608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2468880"/>
            <a:ext cx="292608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7" y="2633472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5E"/>
                </a:solidFill>
                <a:latin typeface="Calibri"/>
              </a:rPr>
              <a:t>TMS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3035808"/>
            <a:ext cx="2697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Despachos, guías,
estados de tránsito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114800"/>
            <a:ext cx="292608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4114800"/>
            <a:ext cx="292608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7" y="4279392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5E"/>
                </a:solidFill>
                <a:latin typeface="Calibri"/>
              </a:rPr>
              <a:t>ERP / SAP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4681728"/>
            <a:ext cx="2697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Maestros, órdenes,
cuentas por pagar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2468880"/>
            <a:ext cx="292608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0" y="2468880"/>
            <a:ext cx="292608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2633472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5E"/>
                </a:solidFill>
                <a:latin typeface="Calibri"/>
              </a:rPr>
              <a:t>Power 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3035808"/>
            <a:ext cx="2697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Dashboards gerenciales
en tiempo real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4114800"/>
            <a:ext cx="292608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80960" y="4114800"/>
            <a:ext cx="292608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0688" y="4279392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5E"/>
                </a:solidFill>
                <a:latin typeface="Calibri"/>
              </a:rPr>
              <a:t>Tableau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0688" y="4681728"/>
            <a:ext cx="2697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Análisis avanzado
de inventario y KPIs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5303520"/>
            <a:ext cx="292608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6240" y="5303520"/>
            <a:ext cx="292608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5968" y="5468112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5E"/>
                </a:solidFill>
                <a:latin typeface="Calibri"/>
              </a:rPr>
              <a:t>SST / HSEQ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5870448"/>
            <a:ext cx="2697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Incidentes, EPP,
procedimientos seguros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2926080"/>
            <a:ext cx="292608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20640" y="2926080"/>
            <a:ext cx="2926080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30368" y="3090672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5E"/>
                </a:solidFill>
                <a:latin typeface="Calibri"/>
              </a:rPr>
              <a:t>Base de Datos
Propia (MySQL)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0368" y="3493008"/>
            <a:ext cx="2697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Datos 100% del cliente,
sin vendor lock-in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solidFill>
            <a:srgbClr val="1B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API REST documentada con JWT + ApiKey  •  Endpoints estables  •  Webhooks  •  Listo para conectar hoy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6675120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WMS PROORIENTE  •  Propuesta Comercial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VENTAJAS COMPETITIVAS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2064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WMS Propio vs. Soluciones Genéricas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5486400" cy="4114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3401568" cy="457200"/>
          </a:xfrm>
          <a:prstGeom prst="rect">
            <a:avLst/>
          </a:prstGeom>
          <a:solidFill>
            <a:srgbClr val="243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435608"/>
            <a:ext cx="331012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Característica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417320"/>
            <a:ext cx="2532888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1435608"/>
            <a:ext cx="2441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WMS PROORIENTE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1417320"/>
            <a:ext cx="2395728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1435608"/>
            <a:ext cx="2304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WMS Genérico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81160" y="1417320"/>
            <a:ext cx="2258568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54312" y="1435608"/>
            <a:ext cx="216712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SAP WM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920240"/>
            <a:ext cx="3401568" cy="512064"/>
          </a:xfrm>
          <a:prstGeom prst="rect">
            <a:avLst/>
          </a:prstGeom>
          <a:solidFill>
            <a:srgbClr val="17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947672"/>
            <a:ext cx="32918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Adaptado al proceso propio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1920240"/>
            <a:ext cx="2532888" cy="512064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194767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D4AA"/>
                </a:solidFill>
                <a:latin typeface="Calibri"/>
              </a:rPr>
              <a:t>✅ 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1920240"/>
            <a:ext cx="2395728" cy="512064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194767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F4444"/>
                </a:solidFill>
                <a:latin typeface="Calibri"/>
              </a:rPr>
              <a:t>❌ Genérico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1920240"/>
            <a:ext cx="2258568" cy="512064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1947672"/>
            <a:ext cx="21488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59E0B"/>
                </a:solidFill>
                <a:latin typeface="Calibri"/>
              </a:rPr>
              <a:t>⚠️ Costoso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487168"/>
            <a:ext cx="3401568" cy="512064"/>
          </a:xfrm>
          <a:prstGeom prst="rect">
            <a:avLst/>
          </a:prstGeom>
          <a:solidFill>
            <a:srgbClr val="17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514600"/>
            <a:ext cx="32918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Base de datos propia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2487168"/>
            <a:ext cx="2532888" cy="512064"/>
          </a:xfrm>
          <a:prstGeom prst="rect">
            <a:avLst/>
          </a:prstGeom>
          <a:solidFill>
            <a:srgbClr val="17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2514600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D4AA"/>
                </a:solidFill>
                <a:latin typeface="Calibri"/>
              </a:rPr>
              <a:t>✅ MySQL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2487168"/>
            <a:ext cx="2395728" cy="512064"/>
          </a:xfrm>
          <a:prstGeom prst="rect">
            <a:avLst/>
          </a:prstGeom>
          <a:solidFill>
            <a:srgbClr val="17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251460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F4444"/>
                </a:solidFill>
                <a:latin typeface="Calibri"/>
              </a:rPr>
              <a:t>❌ Vendor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1160" y="2487168"/>
            <a:ext cx="2258568" cy="512064"/>
          </a:xfrm>
          <a:prstGeom prst="rect">
            <a:avLst/>
          </a:prstGeom>
          <a:solidFill>
            <a:srgbClr val="17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2514600"/>
            <a:ext cx="21488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F4444"/>
                </a:solidFill>
                <a:latin typeface="Calibri"/>
              </a:rPr>
              <a:t>❌ SAP DB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3054096"/>
            <a:ext cx="3401568" cy="512064"/>
          </a:xfrm>
          <a:prstGeom prst="rect">
            <a:avLst/>
          </a:prstGeom>
          <a:solidFill>
            <a:srgbClr val="17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081528"/>
            <a:ext cx="32918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Conexión a BI (Power BI, etc)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3054096"/>
            <a:ext cx="2532888" cy="512064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0" y="3081528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D4AA"/>
                </a:solidFill>
                <a:latin typeface="Calibri"/>
              </a:rPr>
              <a:t>✅ Directa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3054096"/>
            <a:ext cx="2395728" cy="512064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308152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59E0B"/>
                </a:solidFill>
                <a:latin typeface="Calibri"/>
              </a:rPr>
              <a:t>⚠️ Limitada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81160" y="3054096"/>
            <a:ext cx="2258568" cy="512064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72600" y="3081528"/>
            <a:ext cx="21488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✅ SAP BI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3621024"/>
            <a:ext cx="3401568" cy="512064"/>
          </a:xfrm>
          <a:prstGeom prst="rect">
            <a:avLst/>
          </a:prstGeom>
          <a:solidFill>
            <a:srgbClr val="17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3648456"/>
            <a:ext cx="32918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IA Predictiva + ML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3621024"/>
            <a:ext cx="2532888" cy="512064"/>
          </a:xfrm>
          <a:prstGeom prst="rect">
            <a:avLst/>
          </a:prstGeom>
          <a:solidFill>
            <a:srgbClr val="17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0" y="3648456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D4AA"/>
                </a:solidFill>
                <a:latin typeface="Calibri"/>
              </a:rPr>
              <a:t>✅ Incluida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3621024"/>
            <a:ext cx="2395728" cy="512064"/>
          </a:xfrm>
          <a:prstGeom prst="rect">
            <a:avLst/>
          </a:prstGeom>
          <a:solidFill>
            <a:srgbClr val="17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0" y="3648456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F4444"/>
                </a:solidFill>
                <a:latin typeface="Calibri"/>
              </a:rPr>
              <a:t>❌ 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81160" y="3621024"/>
            <a:ext cx="2258568" cy="512064"/>
          </a:xfrm>
          <a:prstGeom prst="rect">
            <a:avLst/>
          </a:prstGeom>
          <a:solidFill>
            <a:srgbClr val="17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72600" y="3648456"/>
            <a:ext cx="21488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59E0B"/>
                </a:solidFill>
                <a:latin typeface="Calibri"/>
              </a:rPr>
              <a:t>⚠️ Add-on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4187952"/>
            <a:ext cx="3401568" cy="512064"/>
          </a:xfrm>
          <a:prstGeom prst="rect">
            <a:avLst/>
          </a:prstGeom>
          <a:solidFill>
            <a:srgbClr val="17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215383"/>
            <a:ext cx="32918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TMS API integrada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4187952"/>
            <a:ext cx="2532888" cy="512064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0" y="4215383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D4AA"/>
                </a:solidFill>
                <a:latin typeface="Calibri"/>
              </a:rPr>
              <a:t>✅ Lista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6560" y="4187952"/>
            <a:ext cx="2395728" cy="512064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0" y="4215383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59E0B"/>
                </a:solidFill>
                <a:latin typeface="Calibri"/>
              </a:rPr>
              <a:t>⚠️ Extra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81160" y="4187952"/>
            <a:ext cx="2258568" cy="512064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72600" y="4215383"/>
            <a:ext cx="21488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✅ Módulo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4754880"/>
            <a:ext cx="3401568" cy="512064"/>
          </a:xfrm>
          <a:prstGeom prst="rect">
            <a:avLst/>
          </a:prstGeom>
          <a:solidFill>
            <a:srgbClr val="17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4782312"/>
            <a:ext cx="32918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Costo mensual aprox.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0" y="4754880"/>
            <a:ext cx="2532888" cy="512064"/>
          </a:xfrm>
          <a:prstGeom prst="rect">
            <a:avLst/>
          </a:prstGeom>
          <a:solidFill>
            <a:srgbClr val="17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06240" y="478231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D4AA"/>
                </a:solidFill>
                <a:latin typeface="Calibri"/>
              </a:rPr>
              <a:t>✅ Bajo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66560" y="4754880"/>
            <a:ext cx="2395728" cy="512064"/>
          </a:xfrm>
          <a:prstGeom prst="rect">
            <a:avLst/>
          </a:prstGeom>
          <a:solidFill>
            <a:srgbClr val="17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0" y="478231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59E0B"/>
                </a:solidFill>
                <a:latin typeface="Calibri"/>
              </a:rPr>
              <a:t>⚠️ Medio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81160" y="4754880"/>
            <a:ext cx="2258568" cy="512064"/>
          </a:xfrm>
          <a:prstGeom prst="rect">
            <a:avLst/>
          </a:prstGeom>
          <a:solidFill>
            <a:srgbClr val="17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72600" y="4782312"/>
            <a:ext cx="21488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F4444"/>
                </a:solidFill>
                <a:latin typeface="Calibri"/>
              </a:rPr>
              <a:t>❌ Alto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5321808"/>
            <a:ext cx="3401568" cy="512064"/>
          </a:xfrm>
          <a:prstGeom prst="rect">
            <a:avLst/>
          </a:prstGeom>
          <a:solidFill>
            <a:srgbClr val="17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" y="5349240"/>
            <a:ext cx="32918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Tiempo de implementación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0" y="5321808"/>
            <a:ext cx="2532888" cy="512064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06240" y="5349240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D4AA"/>
                </a:solidFill>
                <a:latin typeface="Calibri"/>
              </a:rPr>
              <a:t>✅ 4–8 sem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66560" y="5321808"/>
            <a:ext cx="2395728" cy="512064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58000" y="534924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59E0B"/>
                </a:solidFill>
                <a:latin typeface="Calibri"/>
              </a:rPr>
              <a:t>⚠️ 3–6 meses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81160" y="5321808"/>
            <a:ext cx="2258568" cy="512064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372600" y="5349240"/>
            <a:ext cx="21488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F4444"/>
                </a:solidFill>
                <a:latin typeface="Calibri"/>
              </a:rPr>
              <a:t>❌ 6–18 meses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" y="5888736"/>
            <a:ext cx="3401568" cy="512064"/>
          </a:xfrm>
          <a:prstGeom prst="rect">
            <a:avLst/>
          </a:prstGeom>
          <a:solidFill>
            <a:srgbClr val="17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85800" y="5916168"/>
            <a:ext cx="32918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Soporte en español Colombia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0" y="5888736"/>
            <a:ext cx="2532888" cy="512064"/>
          </a:xfrm>
          <a:prstGeom prst="rect">
            <a:avLst/>
          </a:prstGeom>
          <a:solidFill>
            <a:srgbClr val="17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06240" y="5916168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D4AA"/>
                </a:solidFill>
                <a:latin typeface="Calibri"/>
              </a:rPr>
              <a:t>✅ Directo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66560" y="5888736"/>
            <a:ext cx="2395728" cy="512064"/>
          </a:xfrm>
          <a:prstGeom prst="rect">
            <a:avLst/>
          </a:prstGeom>
          <a:solidFill>
            <a:srgbClr val="17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858000" y="591616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59E0B"/>
                </a:solidFill>
                <a:latin typeface="Calibri"/>
              </a:rPr>
              <a:t>⚠️ Indirecto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281160" y="5888736"/>
            <a:ext cx="2258568" cy="512064"/>
          </a:xfrm>
          <a:prstGeom prst="rect">
            <a:avLst/>
          </a:prstGeom>
          <a:solidFill>
            <a:srgbClr val="17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72600" y="5916168"/>
            <a:ext cx="21488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59E0B"/>
                </a:solidFill>
                <a:latin typeface="Calibri"/>
              </a:rPr>
              <a:t>⚠️ 3rd party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0" y="6675120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WMS PROORIENTE  •  Propuesta Comercial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411480" cy="67848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EXPANSIÓN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2064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B5E"/>
                </a:solidFill>
                <a:latin typeface="Georgia"/>
              </a:rPr>
              <a:t>Más que un WMS — Una Plataforma Empresarial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6400800" cy="411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98448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WMS Prooriente está diseñado para crecer con su empresa.
Una vez estabilizado el módulo logístico, extendemos la plataforma a otros departamentos: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194560"/>
            <a:ext cx="3639312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194560"/>
            <a:ext cx="3639312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95728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B5E"/>
                </a:solidFill>
                <a:latin typeface="Calibri"/>
              </a:rPr>
              <a:t>SST / HSEQ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52928"/>
            <a:ext cx="3337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Gestión de incidentes, EPP, inspecciones,
procedimientos y normativa NTC-OHSAS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194560"/>
            <a:ext cx="3639312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194560"/>
            <a:ext cx="363931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395728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B5E"/>
                </a:solidFill>
                <a:latin typeface="Calibri"/>
              </a:rPr>
              <a:t>RRHH Operativo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852928"/>
            <a:ext cx="3337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Turnos, asistencia, rendimiento
de auxiliares y montacarguistas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2194560"/>
            <a:ext cx="3639312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2194560"/>
            <a:ext cx="363931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395728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B5E"/>
                </a:solidFill>
                <a:latin typeface="Calibri"/>
              </a:rPr>
              <a:t>Mantenimiento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852928"/>
            <a:ext cx="3337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Gestión de equipos, montacargas,
preventivos y correctivos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160520"/>
            <a:ext cx="3639312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160520"/>
            <a:ext cx="3639312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361688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B5E"/>
                </a:solidFill>
                <a:latin typeface="Calibri"/>
              </a:rPr>
              <a:t>Calidad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18888"/>
            <a:ext cx="3337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No conformidades, auditorías internas,
acciones correctivas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160520"/>
            <a:ext cx="3639312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4160520"/>
            <a:ext cx="3639312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4361688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B5E"/>
                </a:solidFill>
                <a:latin typeface="Calibri"/>
              </a:rPr>
              <a:t>Finanzas / Costos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818888"/>
            <a:ext cx="3337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Costo por operación, bodegaje,
rentabilidad por cliente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4160520"/>
            <a:ext cx="3639312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1B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4160520"/>
            <a:ext cx="3639312" cy="109728"/>
          </a:xfrm>
          <a:prstGeom prst="rect">
            <a:avLst/>
          </a:prstGeom>
          <a:solidFill>
            <a:srgbClr val="1B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361688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B5E"/>
                </a:solidFill>
                <a:latin typeface="Calibri"/>
              </a:rPr>
              <a:t>CRM Clientes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818888"/>
            <a:ext cx="3337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Seguimiento de pedidos, SLA,
niveles de servicio por cliente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0" y="6675120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WMS PROORIENTE  •  Propuesta Comercial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Calibri"/>
              </a:rPr>
              <a:t>RETORNO SOBRE LA INVERSIÓN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2064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ROI Proyectado — Paquete Empresarial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594360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984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PÉRDIDAS ACTUALES (Mensual estimado)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190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Errores en despacho (8%):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7190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F4444"/>
                </a:solidFill>
                <a:latin typeface="Calibri"/>
              </a:rPr>
              <a:t>$ 3,200,000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Productos vencidos sin alerta: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194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F4444"/>
                </a:solidFill>
                <a:latin typeface="Calibri"/>
              </a:rPr>
              <a:t>$ 4,000,000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700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Horas extra por procesos manuales: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6700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F4444"/>
                </a:solidFill>
                <a:latin typeface="Calibri"/>
              </a:rPr>
              <a:t>$ 2,500,000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4553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Re-trabajo por falta de trazabilidad: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14553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F4444"/>
                </a:solidFill>
                <a:latin typeface="Calibri"/>
              </a:rPr>
              <a:t>$ 1,800,000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639312"/>
            <a:ext cx="534924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73075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TOTAL PÉRDIDA MENSUAL: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73075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EF4444"/>
                </a:solidFill>
                <a:latin typeface="Calibri"/>
              </a:rPr>
              <a:t>$ 11,500,000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976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INVERSIÓN WMS (Paquete Empresarial):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6817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• Cuota mensual: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6817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AA"/>
                </a:solidFill>
                <a:latin typeface="Calibri"/>
              </a:rPr>
              <a:t>$ 4,200,000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0749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• Beneficio neto mensual: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0749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2C55E"/>
                </a:solidFill>
                <a:latin typeface="Calibri"/>
              </a:rPr>
              <a:t>$ 7,300,000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1298448"/>
            <a:ext cx="1691640" cy="2304288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0" y="1298448"/>
            <a:ext cx="169164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1463040"/>
            <a:ext cx="1600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2C55E"/>
                </a:solidFill>
                <a:latin typeface="Georgia"/>
              </a:rPr>
              <a:t>5.1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3317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2E8F0"/>
                </a:solidFill>
                <a:latin typeface="Calibri"/>
              </a:rPr>
              <a:t>meses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2651760"/>
            <a:ext cx="1600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  <a:latin typeface="Calibri"/>
              </a:rPr>
              <a:t>Recuperación de
la inversión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58200" y="1298448"/>
            <a:ext cx="1691640" cy="2304288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58200" y="1298448"/>
            <a:ext cx="16916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1463040"/>
            <a:ext cx="1600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4AA"/>
                </a:solidFill>
                <a:latin typeface="Georgia"/>
              </a:rPr>
              <a:t>174%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2651760"/>
            <a:ext cx="1600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  <a:latin typeface="Calibri"/>
              </a:rPr>
              <a:t>ROI año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32720" y="1298448"/>
            <a:ext cx="1691640" cy="2304288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332720" y="1298448"/>
            <a:ext cx="16916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78440" y="1463040"/>
            <a:ext cx="1600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  <a:latin typeface="Georgia"/>
              </a:rPr>
              <a:t>x3.8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78440" y="2651760"/>
            <a:ext cx="1600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  <a:latin typeface="Calibri"/>
              </a:rPr>
              <a:t>Retorno sobre
cada peso invertido</a:t>
            </a:r>
          </a:p>
        </p:txBody>
      </p:sp>
      <p:graphicFrame>
        <p:nvGraphicFramePr>
          <p:cNvPr id="38" name="Chart 37"/>
          <p:cNvGraphicFramePr>
            <a:graphicFrameLocks noGrp="1"/>
          </p:cNvGraphicFramePr>
          <p:nvPr/>
        </p:nvGraphicFramePr>
        <p:xfrm>
          <a:off x="6492240" y="3794760"/>
          <a:ext cx="544068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594360" y="5943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AA"/>
                </a:solidFill>
                <a:latin typeface="Calibri"/>
              </a:rPr>
              <a:t>Recuperación total implementación ($28M) en 4 meses adicionales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0" y="6675120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WMS PROORIENTE  •  Propuesta Comercial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411480" cy="67848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B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PRECIOS Y PAQUETES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2064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B5E"/>
                </a:solidFill>
                <a:latin typeface="Georgia"/>
              </a:rPr>
              <a:t>Inversión Transparente — Sin Sorpresas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6400800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3639312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25880"/>
            <a:ext cx="3639312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ESENCIAL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WMS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Implementación: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9488"/>
                </a:solidFill>
                <a:latin typeface="Georgia"/>
              </a:rPr>
              <a:t>$ 18.000.000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5E"/>
                </a:solidFill>
                <a:latin typeface="Calibri"/>
              </a:rPr>
              <a:t>$ 2.800.000 / 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91840"/>
            <a:ext cx="333756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401568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7280" y="341985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WMS completo (9 módulos)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03904"/>
            <a:ext cx="27432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97280" y="3822191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Soporte técnico mensual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06240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97280" y="422452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Actualizaciones incluidas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08576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" y="462686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Capacitación inicial (8h)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10912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97280" y="50292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1 empresa / 1 sucursal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61688" y="1261872"/>
            <a:ext cx="3767328" cy="5257800"/>
          </a:xfrm>
          <a:prstGeom prst="rect">
            <a:avLst/>
          </a:prstGeom>
          <a:solidFill>
            <a:srgbClr val="1B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1325880"/>
            <a:ext cx="3639312" cy="5120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B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1325880"/>
            <a:ext cx="3639312" cy="658368"/>
          </a:xfrm>
          <a:prstGeom prst="rect">
            <a:avLst/>
          </a:prstGeom>
          <a:solidFill>
            <a:srgbClr val="1B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137160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EMPRESARIAL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169164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MÁS POPULAR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05740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Implementación: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233172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B5E"/>
                </a:solidFill>
                <a:latin typeface="Georgia"/>
              </a:rPr>
              <a:t>$ 28.000.000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283464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5E"/>
                </a:solidFill>
                <a:latin typeface="Calibri"/>
              </a:rPr>
              <a:t>$ 4.200.000 / mes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3291840"/>
            <a:ext cx="333756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401568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937760" y="341985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Todo lo del Esencial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803904"/>
            <a:ext cx="274320" cy="2743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937760" y="3822191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Módulo SST / HSEQ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206240"/>
            <a:ext cx="274320" cy="2743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937760" y="422452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Agente Fénix ML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608576"/>
            <a:ext cx="274320" cy="2743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937760" y="462686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Asesoría mensual (4h)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5010912"/>
            <a:ext cx="274320" cy="2743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937760" y="50292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Multi-sucursal (hasta 3)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20" y="1325880"/>
            <a:ext cx="3639312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75320" y="1325880"/>
            <a:ext cx="3639312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66760" y="137160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ÉLITE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169164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TODO INCLUIDO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205740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Implementación: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233172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9E0B"/>
                </a:solidFill>
                <a:latin typeface="Georgia"/>
              </a:rPr>
              <a:t>$ 45.000.000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283464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B5E"/>
                </a:solidFill>
                <a:latin typeface="Calibri"/>
              </a:rPr>
              <a:t>$ 6.500.000 / mes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80" y="3291840"/>
            <a:ext cx="333756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3401568"/>
            <a:ext cx="274320" cy="27432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778240" y="341985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Todo lo del Empresarial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3803904"/>
            <a:ext cx="274320" cy="27432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778240" y="3822191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Integración BI Power BI/Tableau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206240"/>
            <a:ext cx="274320" cy="27432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778240" y="422452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TMS API producción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608576"/>
            <a:ext cx="274320" cy="27432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778240" y="462686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Scheduler ML nocturno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5010912"/>
            <a:ext cx="274320" cy="27432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778240" y="50292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Sucursales ilimitadas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* Los valores son en pesos colombianos (COP) e incluyen IVA.  Precios válidos hasta el 31 de diciembre de 2025.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0" y="6675120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WMS PROORIENTE  •  Propuesta Comercial 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Calibri"/>
              </a:rPr>
              <a:t>CRONOGRAMA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20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Implementación en 8 Semanas — Sin Parar la Operación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7315200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057400"/>
            <a:ext cx="214884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1901952"/>
            <a:ext cx="420624" cy="4206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2240280"/>
            <a:ext cx="2148840" cy="3520440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240280"/>
            <a:ext cx="214884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77440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SEM 1–2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24912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Diagnóstico &amp;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9184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Mapeo de procesos, configuración de
servidores, carga de maestros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98648" y="2057400"/>
            <a:ext cx="214884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901952"/>
            <a:ext cx="420624" cy="42062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898648" y="2240280"/>
            <a:ext cx="2148840" cy="3520440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98648" y="2240280"/>
            <a:ext cx="21488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0088" y="2377440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SEM 3–4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0088" y="2724912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Recepción &amp; Almacenamiento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0088" y="329184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Capacitación de recepcionistas,
piloto de ubicación FEFO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02936" y="2057400"/>
            <a:ext cx="214884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7608" y="1901952"/>
            <a:ext cx="420624" cy="42062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202936" y="2240280"/>
            <a:ext cx="2148840" cy="3520440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02936" y="2240280"/>
            <a:ext cx="214884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94376" y="2377440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  <a:latin typeface="Calibri"/>
              </a:rPr>
              <a:t>SEM 5–6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94376" y="2724912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Picking &amp; Despacho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4376" y="329184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Planillas, rutas, certificación,
integración TMS 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07224" y="2057400"/>
            <a:ext cx="214884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1896" y="1901952"/>
            <a:ext cx="420624" cy="420624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7507224" y="2240280"/>
            <a:ext cx="2148840" cy="3520440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07224" y="2240280"/>
            <a:ext cx="214884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98664" y="2377440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SEM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98664" y="2724912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Inventarios &amp; 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98664" y="329184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Conteos, ajustes, conexión
Power BI / Tableau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11512" y="2057400"/>
            <a:ext cx="2148840" cy="10972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6184" y="1901952"/>
            <a:ext cx="420624" cy="420624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9811512" y="2240280"/>
            <a:ext cx="2148840" cy="3520440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11512" y="2240280"/>
            <a:ext cx="21488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02952" y="2377440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Calibri"/>
              </a:rPr>
              <a:t>SEM 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2952" y="2724912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Go-Live &amp; ML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2952" y="329184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Activación ML, Agente Fénix,
acompañamiento presencial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5989320"/>
            <a:ext cx="1097280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605332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Soporte post go-live incluido 3 meses  •  Capacitación online continua  •  SLA de respuesta &lt; 4h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0" y="6675120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WMS PROORIENTE  •  Propuesta Comercial 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Georgia"/>
              </a:rPr>
              <a:t>¿LISTO PARA TRANSFORMAR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4AA"/>
                </a:solidFill>
                <a:latin typeface="Georgia"/>
              </a:rPr>
              <a:t>SU OPERACIÓN LOGÍSTICA?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487168"/>
            <a:ext cx="5760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E2E8F0"/>
                </a:solidFill>
                <a:latin typeface="Calibri"/>
              </a:rPr>
              <a:t>WMS Prooriente es más que un software — es un socio tecnológico
que crece con su empresa, protege su inventario y genera valor
desde el primer día de operación.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3886200"/>
            <a:ext cx="3154680" cy="1444752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80160" y="3886200"/>
            <a:ext cx="315468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39" y="4023360"/>
            <a:ext cx="438912" cy="4389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17319" y="4535424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AA"/>
                </a:solidFill>
                <a:latin typeface="Calibri"/>
              </a:rPr>
              <a:t>Próximo paso: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489204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Reunión de diagnóstico gratuita  (30 min)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3886200"/>
            <a:ext cx="3154680" cy="1444752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09160" y="3886200"/>
            <a:ext cx="315468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4023360"/>
            <a:ext cx="438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46320" y="4535424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Demo en vivo: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89204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Recorrido completo del sistema en su entorno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886200"/>
            <a:ext cx="3154680" cy="1444752"/>
          </a:xfrm>
          <a:prstGeom prst="rect">
            <a:avLst/>
          </a:prstGeom>
          <a:solidFill>
            <a:srgbClr val="1E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3886200"/>
            <a:ext cx="315468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4023360"/>
            <a:ext cx="438912" cy="43891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275320" y="4535424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  <a:latin typeface="Calibri"/>
              </a:rPr>
              <a:t>Propuesta formal: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89204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Cotización ajustada a su operación en 48h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5943600"/>
            <a:ext cx="12188952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0" y="60350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📧  gerencia@prooriente.com     📱  +57 300 000 0000     🌐  www.prooriente.com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0" y="6675120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Documento confidencial  •  Propuesta Comercial WMS Prooriente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